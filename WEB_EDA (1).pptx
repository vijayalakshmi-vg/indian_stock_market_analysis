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Libre Baskerville" panose="02000000000000000000" pitchFamily="2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472440"/>
            <a:ext cx="18286219" cy="4145280"/>
            <a:chOff x="0" y="0"/>
            <a:chExt cx="24381625" cy="55270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588" cy="5527040"/>
            </a:xfrm>
            <a:custGeom>
              <a:avLst/>
              <a:gdLst/>
              <a:ahLst/>
              <a:cxnLst/>
              <a:rect l="l" t="t" r="r" b="b"/>
              <a:pathLst>
                <a:path w="24381588" h="5527040">
                  <a:moveTo>
                    <a:pt x="0" y="0"/>
                  </a:moveTo>
                  <a:lnTo>
                    <a:pt x="24381588" y="0"/>
                  </a:lnTo>
                  <a:lnTo>
                    <a:pt x="24381588" y="5527040"/>
                  </a:lnTo>
                  <a:lnTo>
                    <a:pt x="0" y="552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4809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426553" y="5147817"/>
            <a:ext cx="5433113" cy="1677873"/>
          </a:xfrm>
          <a:custGeom>
            <a:avLst/>
            <a:gdLst/>
            <a:ahLst/>
            <a:cxnLst/>
            <a:rect l="l" t="t" r="r" b="b"/>
            <a:pathLst>
              <a:path w="5433113" h="1677873">
                <a:moveTo>
                  <a:pt x="0" y="0"/>
                </a:moveTo>
                <a:lnTo>
                  <a:pt x="5433113" y="0"/>
                </a:lnTo>
                <a:lnTo>
                  <a:pt x="5433113" y="1677873"/>
                </a:lnTo>
                <a:lnTo>
                  <a:pt x="0" y="1677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214158" y="3995251"/>
            <a:ext cx="3857903" cy="80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9"/>
              </a:lnSpc>
            </a:pPr>
            <a:r>
              <a:rPr lang="en-US" sz="5099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67163" y="7487408"/>
            <a:ext cx="8553674" cy="10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Indian Stock market analysis from Groww.in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(5-Day Snapshot: Feb 17–23,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719940" y="3907365"/>
            <a:ext cx="4897165" cy="418707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28700" y="2986352"/>
            <a:ext cx="11209582" cy="600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•Fast-growing Indian investment platform.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6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•Founded in 2016.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6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•Initially started as a mutual fund investment platform.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6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•Later expanded to stock trading and other financial services.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6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•Offers zero-commission equity delivery.</a:t>
            </a:r>
          </a:p>
          <a:p>
            <a:pPr algn="l">
              <a:lnSpc>
                <a:spcPts val="4327"/>
              </a:lnSpc>
              <a:spcBef>
                <a:spcPct val="0"/>
              </a:spcBef>
            </a:pPr>
            <a:endParaRPr lang="en-US" sz="360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327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•Known for its simple and user-friendly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18C0C-AF50-A4C7-ECB6-2A38E306A3D1}"/>
              </a:ext>
            </a:extLst>
          </p:cNvPr>
          <p:cNvSpPr txBox="1"/>
          <p:nvPr/>
        </p:nvSpPr>
        <p:spPr>
          <a:xfrm>
            <a:off x="4893621" y="564071"/>
            <a:ext cx="8500757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773127" y="3903424"/>
            <a:ext cx="4885629" cy="3508770"/>
          </a:xfrm>
          <a:custGeom>
            <a:avLst/>
            <a:gdLst/>
            <a:ahLst/>
            <a:cxnLst/>
            <a:rect l="l" t="t" r="r" b="b"/>
            <a:pathLst>
              <a:path w="4885629" h="3508770">
                <a:moveTo>
                  <a:pt x="0" y="0"/>
                </a:moveTo>
                <a:lnTo>
                  <a:pt x="4885629" y="0"/>
                </a:lnTo>
                <a:lnTo>
                  <a:pt x="4885629" y="3508770"/>
                </a:lnTo>
                <a:lnTo>
                  <a:pt x="0" y="3508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93621" y="564071"/>
            <a:ext cx="8500757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20273"/>
            <a:ext cx="9361182" cy="4894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stock market contains thousands of companies across different industries.</a:t>
            </a:r>
          </a:p>
          <a:p>
            <a:pPr algn="just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Investors need insights to identify large companies, profitable sectors, and investment opportunities.</a:t>
            </a:r>
          </a:p>
          <a:p>
            <a:pPr algn="just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analyzes financial data to discover sector dominance, profitability trends, and valuation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721892" y="564071"/>
            <a:ext cx="4844216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236065"/>
            <a:ext cx="9562856" cy="683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Scrape stock data from Groww.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company fundamentals &amp; price metrics.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financial data.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dataset: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98"/>
              </a:lnSpc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1. Fundamentals → Long-term analysis</a:t>
            </a:r>
          </a:p>
          <a:p>
            <a:pPr algn="l">
              <a:lnSpc>
                <a:spcPts val="3898"/>
              </a:lnSpc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2. Price data → 5-day short-term analysis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sector &amp; market trend analysis.</a:t>
            </a:r>
          </a:p>
          <a:p>
            <a:pPr algn="l">
              <a:lnSpc>
                <a:spcPts val="3898"/>
              </a:lnSpc>
            </a:pPr>
            <a:endParaRPr lang="en-US" sz="360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l">
              <a:lnSpc>
                <a:spcPts val="3898"/>
              </a:lnSpc>
              <a:buFont typeface="Arial"/>
              <a:buChar char="•"/>
            </a:pPr>
            <a:r>
              <a:rPr lang="en-US" sz="36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 key insights.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DF5F48-915D-A388-71EC-3A742B0D0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9348" y="2860943"/>
            <a:ext cx="4639952" cy="4565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00150" y="2061657"/>
            <a:ext cx="7859298" cy="3851056"/>
          </a:xfrm>
          <a:custGeom>
            <a:avLst/>
            <a:gdLst/>
            <a:ahLst/>
            <a:cxnLst/>
            <a:rect l="l" t="t" r="r" b="b"/>
            <a:pathLst>
              <a:path w="7859298" h="3851056">
                <a:moveTo>
                  <a:pt x="0" y="0"/>
                </a:moveTo>
                <a:lnTo>
                  <a:pt x="7859298" y="0"/>
                </a:lnTo>
                <a:lnTo>
                  <a:pt x="7859298" y="3851056"/>
                </a:lnTo>
                <a:lnTo>
                  <a:pt x="0" y="3851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576570" y="6206685"/>
            <a:ext cx="7106457" cy="2776816"/>
          </a:xfrm>
          <a:custGeom>
            <a:avLst/>
            <a:gdLst/>
            <a:ahLst/>
            <a:cxnLst/>
            <a:rect l="l" t="t" r="r" b="b"/>
            <a:pathLst>
              <a:path w="7106457" h="2776816">
                <a:moveTo>
                  <a:pt x="0" y="0"/>
                </a:moveTo>
                <a:lnTo>
                  <a:pt x="7106457" y="0"/>
                </a:lnTo>
                <a:lnTo>
                  <a:pt x="7106457" y="2776817"/>
                </a:lnTo>
                <a:lnTo>
                  <a:pt x="0" y="2776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72224" y="564070"/>
            <a:ext cx="6543553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SCRAPING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0475" y="2080707"/>
            <a:ext cx="9459111" cy="732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approach: looped through paginated stock list pages.</a:t>
            </a:r>
          </a:p>
          <a:p>
            <a:pPr algn="just">
              <a:lnSpc>
                <a:spcPts val="3898"/>
              </a:lnSpc>
            </a:pPr>
            <a:endParaRPr lang="en-US" sz="360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 only surface-level data available.</a:t>
            </a:r>
          </a:p>
          <a:p>
            <a:pPr algn="just">
              <a:lnSpc>
                <a:spcPts val="3898"/>
              </a:lnSpc>
            </a:pPr>
            <a:endParaRPr lang="en-US" sz="360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Shifted to individual company detail pages.</a:t>
            </a:r>
          </a:p>
          <a:p>
            <a:pPr algn="just">
              <a:lnSpc>
                <a:spcPts val="3898"/>
              </a:lnSpc>
            </a:pPr>
            <a:endParaRPr lang="en-US" sz="360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Captured slug changes in URL after company search.</a:t>
            </a:r>
          </a:p>
          <a:p>
            <a:pPr algn="just">
              <a:lnSpc>
                <a:spcPts val="3898"/>
              </a:lnSpc>
            </a:pPr>
            <a:endParaRPr lang="en-US" sz="360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regex to reliably parse company slugs from URLs.</a:t>
            </a:r>
          </a:p>
          <a:p>
            <a:pPr algn="just">
              <a:lnSpc>
                <a:spcPts val="3898"/>
              </a:lnSpc>
            </a:pPr>
            <a:endParaRPr lang="en-US" sz="360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79398" lvl="1" indent="-389699" algn="just">
              <a:lnSpc>
                <a:spcPts val="3898"/>
              </a:lnSpc>
              <a:buFont typeface="Arial"/>
              <a:buChar char="•"/>
            </a:pP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Python </a:t>
            </a:r>
            <a:r>
              <a:rPr lang="en-US" sz="360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requests.Session</a:t>
            </a:r>
            <a:r>
              <a:rPr lang="en-US" sz="360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for persistent connections.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14350" y="2662476"/>
            <a:ext cx="17259300" cy="4962049"/>
          </a:xfrm>
          <a:custGeom>
            <a:avLst/>
            <a:gdLst/>
            <a:ahLst/>
            <a:cxnLst/>
            <a:rect l="l" t="t" r="r" b="b"/>
            <a:pathLst>
              <a:path w="17259300" h="4962049">
                <a:moveTo>
                  <a:pt x="0" y="0"/>
                </a:moveTo>
                <a:lnTo>
                  <a:pt x="17259300" y="0"/>
                </a:lnTo>
                <a:lnTo>
                  <a:pt x="17259300" y="4962048"/>
                </a:lnTo>
                <a:lnTo>
                  <a:pt x="0" y="4962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44869" y="564071"/>
            <a:ext cx="3998261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86694" y="8275323"/>
            <a:ext cx="3914612" cy="56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4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Shape : (13970, 27)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718356" y="1980111"/>
            <a:ext cx="12922041" cy="6848682"/>
          </a:xfrm>
          <a:custGeom>
            <a:avLst/>
            <a:gdLst/>
            <a:ahLst/>
            <a:cxnLst/>
            <a:rect l="l" t="t" r="r" b="b"/>
            <a:pathLst>
              <a:path w="12922041" h="6848682">
                <a:moveTo>
                  <a:pt x="0" y="0"/>
                </a:moveTo>
                <a:lnTo>
                  <a:pt x="12922042" y="0"/>
                </a:lnTo>
                <a:lnTo>
                  <a:pt x="12922042" y="6848682"/>
                </a:lnTo>
                <a:lnTo>
                  <a:pt x="0" y="6848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50751" y="564070"/>
            <a:ext cx="7057252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LIBRARIES 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709282" y="447932"/>
            <a:ext cx="12869436" cy="845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 &amp;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129700"/>
            <a:ext cx="16230600" cy="732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Type Conversion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financial columns to numeric.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Parsed Date column to datetime format.</a:t>
            </a:r>
          </a:p>
          <a:p>
            <a:pPr algn="just">
              <a:lnSpc>
                <a:spcPts val="4319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78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Text Cleaning</a:t>
            </a:r>
          </a:p>
          <a:p>
            <a:pPr marL="753239" lvl="1" indent="-376620" algn="just">
              <a:lnSpc>
                <a:spcPts val="3767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special characters (₹, %, ,) using regex.</a:t>
            </a:r>
          </a:p>
          <a:p>
            <a:pPr marL="753239" lvl="1" indent="-376620" algn="just">
              <a:lnSpc>
                <a:spcPts val="3767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financial values.</a:t>
            </a:r>
          </a:p>
          <a:p>
            <a:pPr algn="just">
              <a:lnSpc>
                <a:spcPts val="3767"/>
              </a:lnSpc>
            </a:pPr>
            <a:endParaRPr lang="en-US" sz="348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104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Selection</a:t>
            </a:r>
          </a:p>
          <a:p>
            <a:pPr marL="753239" lvl="1" indent="-376620" algn="just">
              <a:lnSpc>
                <a:spcPts val="3767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irrelevant columns.</a:t>
            </a:r>
          </a:p>
          <a:p>
            <a:pPr algn="just">
              <a:lnSpc>
                <a:spcPts val="3767"/>
              </a:lnSpc>
            </a:pPr>
            <a:endParaRPr lang="en-US" sz="348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104"/>
              </a:lnSpc>
            </a:pPr>
            <a:r>
              <a:rPr lang="en-US" sz="3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Feature Engineering</a:t>
            </a:r>
          </a:p>
          <a:p>
            <a:pPr marL="753239" lvl="1" indent="-376620" algn="just">
              <a:lnSpc>
                <a:spcPts val="3767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sector column for industry grouping.</a:t>
            </a:r>
          </a:p>
          <a:p>
            <a:pPr marL="753239" lvl="1" indent="-376620" algn="just">
              <a:lnSpc>
                <a:spcPts val="3767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market cap categories (Large/Mid/Small).</a:t>
            </a:r>
          </a:p>
          <a:p>
            <a:pPr algn="just">
              <a:lnSpc>
                <a:spcPts val="3767"/>
              </a:lnSpc>
              <a:spcBef>
                <a:spcPct val="0"/>
              </a:spcBef>
            </a:pPr>
            <a:endParaRPr lang="en-US" sz="348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495300"/>
            <a:ext cx="16230599" cy="845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 &amp; 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372" y="2801271"/>
            <a:ext cx="16715256" cy="5953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8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Missing Value Handling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missing values using missingno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rows with no financial information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Imputed remaining missing values using median</a:t>
            </a:r>
          </a:p>
          <a:p>
            <a:pPr algn="just">
              <a:lnSpc>
                <a:spcPts val="4319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78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Preparation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divided into:</a:t>
            </a:r>
          </a:p>
          <a:p>
            <a:pPr algn="just">
              <a:lnSpc>
                <a:spcPts val="378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1. Fundamentals dataset (long-term financial analysis).</a:t>
            </a:r>
          </a:p>
          <a:p>
            <a:pPr algn="just">
              <a:lnSpc>
                <a:spcPts val="378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2. Price dataset (short-term market behaviour).</a:t>
            </a:r>
          </a:p>
          <a:p>
            <a:pPr marL="755652" lvl="1" indent="-377826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Ensured consistent data types across datasets.</a:t>
            </a:r>
          </a:p>
          <a:p>
            <a:pPr algn="just">
              <a:lnSpc>
                <a:spcPts val="4319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319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581932" y="1433722"/>
            <a:ext cx="15124137" cy="5841698"/>
          </a:xfrm>
          <a:custGeom>
            <a:avLst/>
            <a:gdLst/>
            <a:ahLst/>
            <a:cxnLst/>
            <a:rect l="l" t="t" r="r" b="b"/>
            <a:pathLst>
              <a:path w="15124137" h="5841698">
                <a:moveTo>
                  <a:pt x="0" y="0"/>
                </a:moveTo>
                <a:lnTo>
                  <a:pt x="15124136" y="0"/>
                </a:lnTo>
                <a:lnTo>
                  <a:pt x="15124136" y="5841698"/>
                </a:lnTo>
                <a:lnTo>
                  <a:pt x="0" y="5841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74971" y="485776"/>
            <a:ext cx="9938057" cy="717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VISUALIZATION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0" y="7766434"/>
            <a:ext cx="13408270" cy="226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l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Cap stocks dominate (~77%) which is typical for Indian markets.</a:t>
            </a:r>
          </a:p>
          <a:p>
            <a:pPr algn="l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72" lvl="1" indent="-356236" algn="l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listed companies are small regional businesses.</a:t>
            </a:r>
          </a:p>
          <a:p>
            <a:pPr algn="l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72" lvl="1" indent="-356236" algn="l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Cap (~10%) represents stable, liquid stocks like Reliance and HDFC.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493371" y="1526865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8" y="0"/>
                </a:lnTo>
                <a:lnTo>
                  <a:pt x="11301258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85068" y="639176"/>
            <a:ext cx="10717864" cy="64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10 industries by number of listed stocks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029" y="7434670"/>
            <a:ext cx="15955941" cy="226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Finance dominates with the most listed companies, reflecting India's large banking, NBFC and insurance sector. </a:t>
            </a:r>
          </a:p>
          <a:p>
            <a:pPr algn="just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Textiles and Trading sectors also have high counts, driven by India's manufacturing base and commodity-driven businesses across tier-2 and tier-3 cities.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567097" y="2577362"/>
            <a:ext cx="7868031" cy="5989538"/>
          </a:xfrm>
          <a:custGeom>
            <a:avLst/>
            <a:gdLst/>
            <a:ahLst/>
            <a:cxnLst/>
            <a:rect l="l" t="t" r="r" b="b"/>
            <a:pathLst>
              <a:path w="7868031" h="5989538">
                <a:moveTo>
                  <a:pt x="0" y="0"/>
                </a:moveTo>
                <a:lnTo>
                  <a:pt x="7868030" y="0"/>
                </a:lnTo>
                <a:lnTo>
                  <a:pt x="7868030" y="5989539"/>
                </a:lnTo>
                <a:lnTo>
                  <a:pt x="0" y="5989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76800" y="554546"/>
            <a:ext cx="838574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cap category vs P/E Ratio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62867" y="3775417"/>
            <a:ext cx="8099757" cy="361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and Mid cap stocks are expensive (P/E ~30+) - investors pay a premium for their stability and brand trust.</a:t>
            </a:r>
          </a:p>
          <a:p>
            <a:pPr algn="just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caps are cheap (P/E 13.55) but risky - many are loss-making companies with negative P/E, proving that cheap doesn't always mean a good investment.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2263110"/>
            <a:ext cx="9933274" cy="6618044"/>
          </a:xfrm>
          <a:custGeom>
            <a:avLst/>
            <a:gdLst/>
            <a:ahLst/>
            <a:cxnLst/>
            <a:rect l="l" t="t" r="r" b="b"/>
            <a:pathLst>
              <a:path w="9933274" h="6618044">
                <a:moveTo>
                  <a:pt x="0" y="0"/>
                </a:moveTo>
                <a:lnTo>
                  <a:pt x="9933274" y="0"/>
                </a:lnTo>
                <a:lnTo>
                  <a:pt x="9933274" y="6618044"/>
                </a:lnTo>
                <a:lnTo>
                  <a:pt x="0" y="6618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00033" y="419100"/>
            <a:ext cx="6687934" cy="626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Median ROE by sector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84884" y="3659512"/>
            <a:ext cx="6971161" cy="3612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chart shows the typical profitability of companies within each sector, minimizing distortion from extreme performers.</a:t>
            </a:r>
          </a:p>
          <a:p>
            <a:pPr algn="just">
              <a:lnSpc>
                <a:spcPts val="3564"/>
              </a:lnSpc>
            </a:pPr>
            <a:endParaRPr lang="en-US" sz="3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72" lvl="1" indent="-356236" algn="just">
              <a:lnSpc>
                <a:spcPts val="3564"/>
              </a:lnSpc>
              <a:buFont typeface="Arial"/>
              <a:buChar char="•"/>
            </a:pPr>
            <a:r>
              <a:rPr lang="en-US" sz="3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and Healthcare are the quality sectors - Financial and Textile are the laggards.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0" y="1709231"/>
            <a:ext cx="8816891" cy="7725801"/>
          </a:xfrm>
          <a:custGeom>
            <a:avLst/>
            <a:gdLst/>
            <a:ahLst/>
            <a:cxnLst/>
            <a:rect l="l" t="t" r="r" b="b"/>
            <a:pathLst>
              <a:path w="8816891" h="7725801">
                <a:moveTo>
                  <a:pt x="0" y="0"/>
                </a:moveTo>
                <a:lnTo>
                  <a:pt x="8816891" y="0"/>
                </a:lnTo>
                <a:lnTo>
                  <a:pt x="8816891" y="7725801"/>
                </a:lnTo>
                <a:lnTo>
                  <a:pt x="0" y="7725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62200" y="554546"/>
            <a:ext cx="13498757" cy="6495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Correlation Heatmap - Fundamental Financial 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2131320"/>
            <a:ext cx="8583692" cy="6891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4"/>
              </a:lnSpc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Strong Positive: EPS vs Book Value (0.76)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earnings per share are strongly associated with higher book value — confirming a fundamental financial relationship.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Moderate Negative: ROE vs Debt/Equity (-0.52)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leverage is linked with lower profitability.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this dataset, increased debt does not enhance returns.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Weak Negative: ROE vs P/B Ratio (-0.22)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market does not strongly reward high-ROE companies with higher valuation premiums.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Market Cap Shows No Strong Relationship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capitalization has near-zero correlation with key financial metrics — indicating size alone does not explain performance differences.</a:t>
            </a:r>
          </a:p>
          <a:p>
            <a:pPr algn="just">
              <a:lnSpc>
                <a:spcPts val="3024"/>
              </a:lnSpc>
              <a:spcBef>
                <a:spcPct val="0"/>
              </a:spcBef>
            </a:pPr>
            <a:endParaRPr lang="en-US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946480" y="1699361"/>
            <a:ext cx="12395040" cy="5577768"/>
          </a:xfrm>
          <a:custGeom>
            <a:avLst/>
            <a:gdLst/>
            <a:ahLst/>
            <a:cxnLst/>
            <a:rect l="l" t="t" r="r" b="b"/>
            <a:pathLst>
              <a:path w="12395040" h="5577768">
                <a:moveTo>
                  <a:pt x="0" y="0"/>
                </a:moveTo>
                <a:lnTo>
                  <a:pt x="12395040" y="0"/>
                </a:lnTo>
                <a:lnTo>
                  <a:pt x="12395040" y="5577768"/>
                </a:lnTo>
                <a:lnTo>
                  <a:pt x="0" y="5577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0199" y="554546"/>
            <a:ext cx="14943179" cy="6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Average Trading volume over 5 days by market cap category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40379" y="7698065"/>
            <a:ext cx="9007241" cy="2084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Large-caps led with stable ~4.5-5M shares/day.</a:t>
            </a:r>
          </a:p>
          <a:p>
            <a:pPr marL="647703" lvl="1" indent="-32385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Mid-caps saw steady decline then mild recovery.</a:t>
            </a:r>
          </a:p>
          <a:p>
            <a:pPr marL="647703" lvl="1" indent="-32385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Small-caps had lowest &amp; most volatile volume.</a:t>
            </a:r>
          </a:p>
          <a:p>
            <a:pPr marL="647703" lvl="1" indent="-32385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Trading activity picked up slightly by Feb 23.</a:t>
            </a:r>
          </a:p>
          <a:p>
            <a:pPr marL="647703" lvl="1" indent="-323852" algn="l">
              <a:lnSpc>
                <a:spcPts val="324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vs small-cap volume gap widened over 5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74502" y="2070008"/>
            <a:ext cx="8829327" cy="7582185"/>
          </a:xfrm>
          <a:custGeom>
            <a:avLst/>
            <a:gdLst/>
            <a:ahLst/>
            <a:cxnLst/>
            <a:rect l="l" t="t" r="r" b="b"/>
            <a:pathLst>
              <a:path w="8829327" h="7582185">
                <a:moveTo>
                  <a:pt x="0" y="0"/>
                </a:moveTo>
                <a:lnTo>
                  <a:pt x="8829327" y="0"/>
                </a:lnTo>
                <a:lnTo>
                  <a:pt x="8829327" y="7582185"/>
                </a:lnTo>
                <a:lnTo>
                  <a:pt x="0" y="75821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45925" y="2721422"/>
            <a:ext cx="10313522" cy="6298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78.2% stocks in middle range (1,254 companies).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stocks are neither near highs nor lows - market in consolidation phase.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5.8% near 52-week highs (93 companies).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Very few stocks showing strong momentum or breakout strength.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16.0% near 52-week lows (256 companies).</a:t>
            </a:r>
          </a:p>
          <a:p>
            <a:pPr algn="just">
              <a:lnSpc>
                <a:spcPts val="3563"/>
              </a:lnSpc>
            </a:pPr>
            <a:endParaRPr lang="en-US" sz="32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12468" lvl="1" indent="-356234" algn="just">
              <a:lnSpc>
                <a:spcPts val="3563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than 2.5× as many stocks close to yearly lows than highs.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52801" y="792480"/>
            <a:ext cx="11568224" cy="649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Right now, patience &gt; aggression in most stocks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5356" y="2160560"/>
            <a:ext cx="8513031" cy="7097740"/>
          </a:xfrm>
          <a:custGeom>
            <a:avLst/>
            <a:gdLst/>
            <a:ahLst/>
            <a:cxnLst/>
            <a:rect l="l" t="t" r="r" b="b"/>
            <a:pathLst>
              <a:path w="8513031" h="7097740">
                <a:moveTo>
                  <a:pt x="0" y="0"/>
                </a:moveTo>
                <a:lnTo>
                  <a:pt x="8513031" y="0"/>
                </a:lnTo>
                <a:lnTo>
                  <a:pt x="8513031" y="7097740"/>
                </a:lnTo>
                <a:lnTo>
                  <a:pt x="0" y="7097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280875" y="718205"/>
            <a:ext cx="3726249" cy="64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10 Gainers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2368060"/>
            <a:ext cx="8910281" cy="670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Industries sector dominates the gainers list (3 companies).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Italian Edibles (FMCG) recorded the highest gain (~9.7%).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Derived Materials sector shows strong momentum (Sadhana Nitro Chem ~7.1%).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 sector participation seen through Balaji Telefilms (~3.8%).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Gainers span multiple sectors, indicating broad market participation.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01458" y="2056653"/>
            <a:ext cx="8361854" cy="7201647"/>
          </a:xfrm>
          <a:custGeom>
            <a:avLst/>
            <a:gdLst/>
            <a:ahLst/>
            <a:cxnLst/>
            <a:rect l="l" t="t" r="r" b="b"/>
            <a:pathLst>
              <a:path w="8361854" h="7201647">
                <a:moveTo>
                  <a:pt x="0" y="0"/>
                </a:moveTo>
                <a:lnTo>
                  <a:pt x="8361854" y="0"/>
                </a:lnTo>
                <a:lnTo>
                  <a:pt x="8361854" y="7201647"/>
                </a:lnTo>
                <a:lnTo>
                  <a:pt x="0" y="72016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296801" y="718205"/>
            <a:ext cx="3694397" cy="64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Top 10 Loosers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73413" y="2075703"/>
            <a:ext cx="9386035" cy="670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Products sector appears multiple times, indicating short-term weakness.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Filatex Fashions (Textile Industry) recorded the largest decline (~-5.3%).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companies show volatility (Gensol Engineering, SKIL Infrastructure).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Renewable energy stocks declined (Indowind Energy, Vikram Solar).</a:t>
            </a:r>
          </a:p>
          <a:p>
            <a:pPr algn="just">
              <a:lnSpc>
                <a:spcPts val="3780"/>
              </a:lnSpc>
            </a:pPr>
            <a:endParaRPr lang="en-US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Losses are spread across multiple sectors, suggesting broad market correction.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2240717" y="3086100"/>
            <a:ext cx="4570160" cy="4114800"/>
          </a:xfrm>
          <a:custGeom>
            <a:avLst/>
            <a:gdLst/>
            <a:ahLst/>
            <a:cxnLst/>
            <a:rect l="l" t="t" r="r" b="b"/>
            <a:pathLst>
              <a:path w="4570160" h="4114800">
                <a:moveTo>
                  <a:pt x="0" y="0"/>
                </a:moveTo>
                <a:lnTo>
                  <a:pt x="4570160" y="0"/>
                </a:lnTo>
                <a:lnTo>
                  <a:pt x="45701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461117"/>
            <a:ext cx="9295266" cy="384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shows mixed sentiment with both strong gainers and notable losers.</a:t>
            </a:r>
          </a:p>
          <a:p>
            <a:pPr algn="just">
              <a:lnSpc>
                <a:spcPts val="3780"/>
              </a:lnSpc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and industrial companies show strong short-term gains.</a:t>
            </a:r>
          </a:p>
          <a:p>
            <a:pPr algn="just">
              <a:lnSpc>
                <a:spcPts val="3780"/>
              </a:lnSpc>
            </a:pPr>
            <a:endParaRPr lang="en-US" sz="35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1" lvl="1" indent="-377825" algn="just">
              <a:lnSpc>
                <a:spcPts val="378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sectors show higher volatility, indicating active trading.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57D15A4-925C-4987-50E7-EC3B6B0E32CB}"/>
              </a:ext>
            </a:extLst>
          </p:cNvPr>
          <p:cNvSpPr txBox="1"/>
          <p:nvPr/>
        </p:nvSpPr>
        <p:spPr>
          <a:xfrm>
            <a:off x="6302986" y="564070"/>
            <a:ext cx="5682029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221348" y="3714496"/>
            <a:ext cx="3787861" cy="3745247"/>
          </a:xfrm>
          <a:custGeom>
            <a:avLst/>
            <a:gdLst/>
            <a:ahLst/>
            <a:cxnLst/>
            <a:rect l="l" t="t" r="r" b="b"/>
            <a:pathLst>
              <a:path w="3787861" h="3745247">
                <a:moveTo>
                  <a:pt x="0" y="0"/>
                </a:moveTo>
                <a:lnTo>
                  <a:pt x="3787860" y="0"/>
                </a:lnTo>
                <a:lnTo>
                  <a:pt x="3787860" y="3745247"/>
                </a:lnTo>
                <a:lnTo>
                  <a:pt x="0" y="3745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5437" y="3272216"/>
            <a:ext cx="11054440" cy="464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7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Large-cap stocks generally trade at higher valuations.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endParaRPr lang="en-US" sz="37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7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EPS and Book Value show strong positive correlation.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endParaRPr lang="en-US" sz="37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7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Debt levels vary significantly across companies.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endParaRPr lang="en-US" sz="37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7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Dividend-paying companies are relatively fewer.</a:t>
            </a:r>
          </a:p>
          <a:p>
            <a:pPr algn="l">
              <a:lnSpc>
                <a:spcPts val="4065"/>
              </a:lnSpc>
              <a:spcBef>
                <a:spcPct val="0"/>
              </a:spcBef>
            </a:pPr>
            <a:endParaRPr lang="en-US" sz="376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065"/>
              </a:lnSpc>
              <a:spcBef>
                <a:spcPct val="0"/>
              </a:spcBef>
            </a:pPr>
            <a:r>
              <a:rPr lang="en-US" sz="376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 Market cap influences financial stability and valuation..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02986" y="564070"/>
            <a:ext cx="5682029" cy="84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4"/>
            <a:ext cx="4838100" cy="1009526"/>
            <a:chOff x="0" y="0"/>
            <a:chExt cx="6450800" cy="13460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99774" y="2776128"/>
            <a:ext cx="6698466" cy="4251474"/>
            <a:chOff x="0" y="0"/>
            <a:chExt cx="8931288" cy="56686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1275" cy="5668645"/>
            </a:xfrm>
            <a:custGeom>
              <a:avLst/>
              <a:gdLst/>
              <a:ahLst/>
              <a:cxnLst/>
              <a:rect l="l" t="t" r="r" b="b"/>
              <a:pathLst>
                <a:path w="8931275" h="566864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958320" y="4541501"/>
            <a:ext cx="6347479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995</Words>
  <Application>Microsoft Office PowerPoint</Application>
  <PresentationFormat>Custom</PresentationFormat>
  <Paragraphs>163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Times New Roman Bold</vt:lpstr>
      <vt:lpstr>Times New Roman</vt:lpstr>
      <vt:lpstr>Calibri</vt:lpstr>
      <vt:lpstr>Arial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WEB_EDA</dc:title>
  <cp:lastModifiedBy>tummala Lahari</cp:lastModifiedBy>
  <cp:revision>3</cp:revision>
  <dcterms:created xsi:type="dcterms:W3CDTF">2006-08-16T00:00:00Z</dcterms:created>
  <dcterms:modified xsi:type="dcterms:W3CDTF">2026-03-16T13:14:53Z</dcterms:modified>
  <dc:identifier>DAHDou9z7T4</dc:identifier>
</cp:coreProperties>
</file>